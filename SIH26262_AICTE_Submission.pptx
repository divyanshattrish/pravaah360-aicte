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4389120" cy="384048"/>
          </a:xfrm>
          <a:prstGeom prst="roundRect">
            <a:avLst/>
          </a:prstGeom>
          <a:solidFill>
            <a:srgbClr val="1E3A66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ED7AA"/>
                </a:solidFill>
              </a:rPr>
              <a:t>SMART INDIA HACKATHON 2026 | IDEA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PRAVAAH-360</a:t>
            </a:r>
          </a:p>
          <a:p>
            <a:r>
              <a:rPr sz="1500">
                <a:solidFill>
                  <a:srgbClr val="93C5FD"/>
                </a:solidFill>
              </a:rPr>
              <a:t>Autonomous Regulatory Workflow Engine, Cryptographic Blind Inspection Dispatch &amp; Supreme Court SLA Compliance Ledger for AICTE</a:t>
            </a:r>
          </a:p>
          <a:p>
            <a:r>
              <a:rPr sz="1200" b="1">
                <a:solidFill>
                  <a:srgbClr val="FDBA74"/>
                </a:solidFill>
              </a:rPr>
              <a:t>Problem Statement ID: SIH26262 | Organization: AICTE | Theme: Smart Automation | Category: Software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91840"/>
            <a:ext cx="5120640" cy="3017520"/>
          </a:xfrm>
          <a:prstGeom prst="roundRect">
            <a:avLst/>
          </a:prstGeom>
          <a:solidFill>
            <a:srgbClr val="172A5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/>
            <a:r>
              <a:rPr sz="1200" b="1">
                <a:solidFill>
                  <a:srgbClr val="FB923C"/>
                </a:solidFill>
              </a:rPr>
              <a:t>Official Problem Statement Title:</a:t>
            </a:r>
          </a:p>
          <a:p>
            <a:r>
              <a:rPr sz="1300" i="1">
                <a:solidFill>
                  <a:srgbClr val="FFFFFF"/>
                </a:solidFill>
              </a:rPr>
              <a:t>"Integrated AICTE Approval Workflow Automation, Compliance Monitoring and Alert Management System"</a:t>
            </a:r>
          </a:p>
          <a:p>
            <a:pPr>
              <a:spcBef>
                <a:spcPts val="1000"/>
              </a:spcBef>
            </a:pPr>
            <a:r>
              <a:rPr sz="1200" b="1">
                <a:solidFill>
                  <a:srgbClr val="2DD4BF"/>
                </a:solidFill>
              </a:rPr>
              <a:t>Core Innovation Highlights:</a:t>
            </a:r>
          </a:p>
          <a:p>
            <a:r>
              <a:rPr sz="1050">
                <a:solidFill>
                  <a:srgbClr val="E2E8F0"/>
                </a:solidFill>
              </a:rPr>
              <a:t>• Declarative APH Rules-as-Code instant deficiency evaluator (&lt; 2.5s)</a:t>
            </a:r>
          </a:p>
          <a:p>
            <a:r>
              <a:rPr sz="1050">
                <a:solidFill>
                  <a:srgbClr val="E2E8F0"/>
                </a:solidFill>
              </a:rPr>
              <a:t>• Time-locked blind inspector dispatch eliminating bribery/lobbying</a:t>
            </a:r>
          </a:p>
          <a:p>
            <a:r>
              <a:rPr sz="1050">
                <a:solidFill>
                  <a:srgbClr val="E2E8F0"/>
                </a:solidFill>
              </a:rPr>
              <a:t>• Anti-spoofing geo-fenced mobile PWA for visiting committees</a:t>
            </a:r>
          </a:p>
          <a:p>
            <a:r>
              <a:rPr sz="1050">
                <a:solidFill>
                  <a:srgbClr val="E2E8F0"/>
                </a:solidFill>
              </a:rPr>
              <a:t>• Hyperledger multi-sig ledger guaranteeing Supreme Court SLA compliance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291840"/>
            <a:ext cx="5212080" cy="3017520"/>
          </a:xfrm>
          <a:prstGeom prst="roundRect">
            <a:avLst/>
          </a:prstGeom>
          <a:solidFill>
            <a:srgbClr val="172A5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/>
            <a:r>
              <a:rPr sz="1200" b="1">
                <a:solidFill>
                  <a:srgbClr val="FB923C"/>
                </a:solidFill>
              </a:rPr>
              <a:t>Team &amp; Institutional Credentials: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</a:rPr>
              <a:t>Team Name: [Insert Team Name] | College: [Insert Institution Name]</a:t>
            </a:r>
          </a:p>
          <a:p>
            <a:r>
              <a:rPr sz="950">
                <a:solidFill>
                  <a:srgbClr val="E2E8F0"/>
                </a:solidFill>
              </a:rPr>
              <a:t>AICTE Permanent Institute ID: [Insert Institute Code]</a:t>
            </a:r>
          </a:p>
          <a:p>
            <a:r>
              <a:rPr sz="950">
                <a:solidFill>
                  <a:srgbClr val="E2E8F0"/>
                </a:solidFill>
              </a:rPr>
              <a:t>Team Leader: [Leader Name] (Lead Architecture &amp; Cloud)</a:t>
            </a:r>
          </a:p>
          <a:p>
            <a:r>
              <a:rPr sz="950">
                <a:solidFill>
                  <a:srgbClr val="E2E8F0"/>
                </a:solidFill>
              </a:rPr>
              <a:t>Member 2: [Member Name] (Full-Stack FastAPI &amp; Next.js)</a:t>
            </a:r>
          </a:p>
          <a:p>
            <a:r>
              <a:rPr sz="950">
                <a:solidFill>
                  <a:srgbClr val="E2E8F0"/>
                </a:solidFill>
              </a:rPr>
              <a:t>Member 3: [Member Name] (Rules-as-Code &amp; Data Pipeline)</a:t>
            </a:r>
          </a:p>
          <a:p>
            <a:r>
              <a:rPr sz="950">
                <a:solidFill>
                  <a:srgbClr val="E2E8F0"/>
                </a:solidFill>
              </a:rPr>
              <a:t>Member 4: [Member Name] (Blockchain &amp; Cryptography)</a:t>
            </a:r>
          </a:p>
          <a:p>
            <a:r>
              <a:rPr sz="950">
                <a:solidFill>
                  <a:srgbClr val="E2E8F0"/>
                </a:solidFill>
              </a:rPr>
              <a:t>Member 5: [Member Name] (Cybersecurity, PWA &amp; Geo-Telemetry)</a:t>
            </a:r>
          </a:p>
          <a:p>
            <a:r>
              <a:rPr sz="950" b="1">
                <a:solidFill>
                  <a:srgbClr val="FECACA"/>
                </a:solidFill>
              </a:rPr>
              <a:t>Member 6 (Mandatory Female Participant): [Member Name] (UI/UX &amp; Testing)</a:t>
            </a:r>
          </a:p>
          <a:p>
            <a:r>
              <a:rPr sz="950" b="1">
                <a:solidFill>
                  <a:srgbClr val="93C5FD"/>
                </a:solidFill>
              </a:rPr>
              <a:t>Demo Link: https://pravaah360-demo.nic.in | Repo: github.com/team/pravaah360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10972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B923C"/>
                </a:solidFill>
              </a:rPr>
              <a:t>SIH 2026 | PS ID: SIH26262 | AICTE</a:t>
            </a:r>
          </a:p>
          <a:p>
            <a:pPr algn="r"/>
            <a:r>
              <a:rPr sz="950">
                <a:solidFill>
                  <a:srgbClr val="CBD5E1"/>
                </a:solidFill>
              </a:rPr>
              <a:t>Theme: Smart Automation | Category: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7772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Slide 2: Proposed Solution &amp; Novelty (USP)</a:t>
            </a:r>
          </a:p>
          <a:p>
            <a:r>
              <a:rPr sz="1100">
                <a:solidFill>
                  <a:srgbClr val="94A3B8"/>
                </a:solidFill>
              </a:rPr>
              <a:t>Transforming AICTE Annual Approvals into an Autonomous, Zero-Collusion Governance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PRAVAAH-360 | Smart India Hackathon 2026 Idea Submission | Confidential &amp; Proprietary to Team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2606040" cy="201168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/>
          <a:lstStyle/>
          <a:p>
            <a:pPr algn="ctr"/>
            <a:r>
              <a:rPr sz="1150" b="1">
                <a:solidFill>
                  <a:srgbClr val="1E40AF"/>
                </a:solidFill>
              </a:rPr>
              <a:t>1. Rules-as-Code APH Engine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1E293B"/>
                </a:solidFill>
              </a:rPr>
              <a:t>Dynamic rules interpreter of the Approval Process Handbook. Provides instant pre-submission deficiency calculation for land, cadre ratios, and labs in &lt; 2.5 seconds.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74136" y="1234440"/>
            <a:ext cx="2606040" cy="2011680"/>
          </a:xfrm>
          <a:prstGeom prst="roundRect">
            <a:avLst/>
          </a:prstGeom>
          <a:solidFill>
            <a:srgbClr val="F0FDF4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/>
          <a:lstStyle/>
          <a:p>
            <a:pPr algn="ctr"/>
            <a:r>
              <a:rPr sz="1150" b="1">
                <a:solidFill>
                  <a:srgbClr val="166534"/>
                </a:solidFill>
              </a:rPr>
              <a:t>2. Blind Inspector Dispatch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1E293B"/>
                </a:solidFill>
              </a:rPr>
              <a:t>Time-Locked Cryptography matches inspectors to colleges with zero conflicts (alumni/ex-employee checks). Venue revealed only 24 hours prior to prevent lobbying.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234440"/>
            <a:ext cx="2606040" cy="2011680"/>
          </a:xfrm>
          <a:prstGeom prst="roundRect">
            <a:avLst/>
          </a:prstGeom>
          <a:solidFill>
            <a:srgbClr val="FEF2F2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/>
          <a:lstStyle/>
          <a:p>
            <a:pPr algn="ctr"/>
            <a:r>
              <a:rPr sz="1150" b="1">
                <a:solidFill>
                  <a:srgbClr val="991B1B"/>
                </a:solidFill>
              </a:rPr>
              <a:t>3. Anti-Spoofing Mobile PWA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1E293B"/>
                </a:solidFill>
              </a:rPr>
              <a:t>Hardware-attested geo-fenced inspection tool for visiting committees. Detects mock GPS, seals photo EXIF telemetry with SHA-256 hashes, and auto-generates EVC dossiers.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25128" y="1234440"/>
            <a:ext cx="2606040" cy="2011680"/>
          </a:xfrm>
          <a:prstGeom prst="roundRect">
            <a:avLst/>
          </a:prstGeom>
          <a:solidFill>
            <a:srgbClr val="FEF3C7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/>
          <a:lstStyle/>
          <a:p>
            <a:pPr algn="ctr"/>
            <a:r>
              <a:rPr sz="1150" b="1">
                <a:solidFill>
                  <a:srgbClr val="92400E"/>
                </a:solidFill>
              </a:rPr>
              <a:t>4. Supreme Court SLA Ledger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1E293B"/>
                </a:solidFill>
              </a:rPr>
              <a:t>Hyperledger Besu permissioned smart contracts enforce multi-sig approval states and Parshvanath Case deadlines (April 30 / June 10) with multi-channel alert cascades.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3429000"/>
          <a:ext cx="11094415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560320"/>
                <a:gridCol w="2743200"/>
                <a:gridCol w="3413455"/>
              </a:tblGrid>
              <a:tr h="56692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Evaluation Metric</a:t>
                      </a:r>
                    </a:p>
                  </a:txBody>
                  <a:tcPr anchor="ctr"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Current Legacy AICTE Portal</a:t>
                      </a:r>
                    </a:p>
                  </a:txBody>
                  <a:tcPr anchor="ctr"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Generic BPM / Commercial SaaS</a:t>
                      </a:r>
                    </a:p>
                  </a:txBody>
                  <a:tcPr anchor="ctr"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PRAVAAH-360 (Our Proposal)</a:t>
                      </a:r>
                    </a:p>
                  </a:txBody>
                  <a:tcPr anchor="ctr">
                    <a:solidFill>
                      <a:srgbClr val="0F204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E293B"/>
                          </a:solidFill>
                        </a:rPr>
                        <a:t>Deficiency Calculation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E293B"/>
                          </a:solidFill>
                        </a:rPr>
                        <a:t>Manual scrutiny committee (30-45 days)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E293B"/>
                          </a:solidFill>
                        </a:rPr>
                        <a:t>Hardcoded form validation rules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F766E"/>
                          </a:solidFill>
                        </a:rPr>
                        <a:t>Instantaneous Declarative Rules-as-Code (&lt; 2.5s)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E293B"/>
                          </a:solidFill>
                        </a:rPr>
                        <a:t>Inspector Integrity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E293B"/>
                          </a:solidFill>
                        </a:rPr>
                        <a:t>Manual allocation; vulnerable to lobbying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E293B"/>
                          </a:solidFill>
                        </a:rPr>
                        <a:t>Basic round-robin assignment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F766E"/>
                          </a:solidFill>
                        </a:rPr>
                        <a:t>Time-Locked Cryptographic Blind Matching (24h Lock)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E293B"/>
                          </a:solidFill>
                        </a:rPr>
                        <a:t>On-Site Inspection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E293B"/>
                          </a:solidFill>
                        </a:rPr>
                        <a:t>Physical papers + unverified photos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E293B"/>
                          </a:solidFill>
                        </a:rPr>
                        <a:t>Generic mobile photo uploads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F766E"/>
                          </a:solidFill>
                        </a:rPr>
                        <a:t>Hardware Attestation, Anti-Mock GPS, SHA-256 Seals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E293B"/>
                          </a:solidFill>
                        </a:rPr>
                        <a:t>Court-Proof SLA Ledger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E293B"/>
                          </a:solidFill>
                        </a:rPr>
                        <a:t>Vulnerable database logs (alterable)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E293B"/>
                          </a:solidFill>
                        </a:rPr>
                        <a:t>Centralized cloud audit trail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0F766E"/>
                          </a:solidFill>
                        </a:rPr>
                        <a:t>Immutable Hyperledger Multi-Sig Smart Contract Ledger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10972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B923C"/>
                </a:solidFill>
              </a:rPr>
              <a:t>SIH 2026 | PS ID: SIH26262 | AICTE</a:t>
            </a:r>
          </a:p>
          <a:p>
            <a:pPr algn="r"/>
            <a:r>
              <a:rPr sz="950">
                <a:solidFill>
                  <a:srgbClr val="CBD5E1"/>
                </a:solidFill>
              </a:rPr>
              <a:t>Theme: Smart Automation | Category: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7772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Slide 3: Technical Approach &amp; System Architecture</a:t>
            </a:r>
          </a:p>
          <a:p>
            <a:r>
              <a:rPr sz="1100">
                <a:solidFill>
                  <a:srgbClr val="94A3B8"/>
                </a:solidFill>
              </a:rPr>
              <a:t>Decoupled 4-Tier Microservices Architecture with Cryptographic Assurance &amp; Zero-Gas Ledger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PRAVAAH-360 | Smart India Hackathon 2026 Idea Submission | Confidential &amp; Proprietary to Team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2606040" cy="29260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pPr algn="ctr"/>
            <a:r>
              <a:rPr sz="1100" b="1">
                <a:solidFill>
                  <a:srgbClr val="0F2043"/>
                </a:solidFill>
              </a:rPr>
              <a:t>Tier 1: Presentation &amp; Field Clients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1E293B"/>
                </a:solidFill>
              </a:rPr>
              <a:t>• Institute Web Portal (Next.js 14, React 18, Tailwind)
• Bureau &amp; Scrutiny Admin Command Console
• EVC Inspector Mobile PWA (Offline Sync, IndexedDB)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74136" y="1234440"/>
            <a:ext cx="2606040" cy="29260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pPr algn="ctr"/>
            <a:r>
              <a:rPr sz="1100" b="1">
                <a:solidFill>
                  <a:srgbClr val="0F2043"/>
                </a:solidFill>
              </a:rPr>
              <a:t>Tier 2: Security &amp; API Gateway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1E293B"/>
                </a:solidFill>
              </a:rPr>
              <a:t>• Nginx Reverse Proxy with DDoS &amp; IP Rate Limiting
• OAuth 2.0 + DigiLocker &amp; Aadhaar e-Sign Gateway
• Zero-Trust Granular RBAC + ABAC Policy Enforcement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234440"/>
            <a:ext cx="2606040" cy="29260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pPr algn="ctr"/>
            <a:r>
              <a:rPr sz="1100" b="1">
                <a:solidFill>
                  <a:srgbClr val="0F2043"/>
                </a:solidFill>
              </a:rPr>
              <a:t>Tier 3: Rules-as-Code &amp; Microservices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1E293B"/>
                </a:solidFill>
              </a:rPr>
              <a:t>• PyDrools/JSON-e APH Rules Engine (&lt; 2.5s inference)
• Hungarian Conflict-Free Matching + Time-Lock Puzzles
• Supreme Court SLA Tracker &amp; Celery Alert Dispatcher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25128" y="1234440"/>
            <a:ext cx="2606040" cy="29260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pPr algn="ctr"/>
            <a:r>
              <a:rPr sz="1100" b="1">
                <a:solidFill>
                  <a:srgbClr val="0F2043"/>
                </a:solidFill>
              </a:rPr>
              <a:t>Tier 4: Persistence &amp; Trust Ledger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1E293B"/>
                </a:solidFill>
              </a:rPr>
              <a:t>• PostgreSQL 16 (ACID Relational Institution State)
• Redis 7 (In-Memory Session Caching &amp; Task Queues)
• MinIO S3 Vault (AES-256 Encrypted Documents)
• Hyperledger Besu (Permissioned Multi-Sig Ledger)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343400"/>
            <a:ext cx="68580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150" b="1">
                <a:solidFill>
                  <a:srgbClr val="EA580C"/>
                </a:solidFill>
              </a:rPr>
              <a:t>End-to-End Numbered Execution Pipeline:</a:t>
            </a:r>
          </a:p>
          <a:p>
            <a:r>
              <a:rPr sz="950">
                <a:solidFill>
                  <a:srgbClr val="1E293B"/>
                </a:solidFill>
              </a:rPr>
              <a:t>1. Ingestion &amp; Instant Audit: College uploads application data -&gt; Rules Engine evaluates APH formulas in 2.2s -&gt; Outputs live deficiency scorecard.</a:t>
            </a:r>
          </a:p>
          <a:p>
            <a:r>
              <a:rPr sz="950">
                <a:solidFill>
                  <a:srgbClr val="1E293B"/>
                </a:solidFill>
              </a:rPr>
              <a:t>2. Cryptographic State Lock: Deficiencies resolved -&gt; Payload snapshot hashed (SHA-256) and committed to Hyperledger Besu state machine.</a:t>
            </a:r>
          </a:p>
          <a:p>
            <a:r>
              <a:rPr sz="950">
                <a:solidFill>
                  <a:srgbClr val="1E293B"/>
                </a:solidFill>
              </a:rPr>
              <a:t>3. Blind EVC Matching: Conflict-free algorithm pairs inspectors -&gt; Encrypted using Time-Lock Puzzle -&gt; Decryption keys revealed at T-24 Hours.</a:t>
            </a:r>
          </a:p>
          <a:p>
            <a:r>
              <a:rPr sz="950">
                <a:solidFill>
                  <a:srgbClr val="1E293B"/>
                </a:solidFill>
              </a:rPr>
              <a:t>4. Telemetry-Attested Inspection: Inspector PWA verifies GPS beacons + seals lab photos -&gt; Multi-sig committee signs off -&gt; Digital EoA QR issued.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4343400"/>
            <a:ext cx="4007815" cy="201168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150" b="1">
                <a:solidFill>
                  <a:srgbClr val="2DD4BF"/>
                </a:solidFill>
              </a:rPr>
              <a:t>Security, Privacy &amp; DPI Standards:</a:t>
            </a:r>
          </a:p>
          <a:p>
            <a:r>
              <a:rPr sz="950">
                <a:solidFill>
                  <a:srgbClr val="E2E8F0"/>
                </a:solidFill>
              </a:rPr>
              <a:t>• Data Protection: DPDP Act 2023 compliant PII anonymization</a:t>
            </a:r>
          </a:p>
          <a:p>
            <a:r>
              <a:rPr sz="950">
                <a:solidFill>
                  <a:srgbClr val="E2E8F0"/>
                </a:solidFill>
              </a:rPr>
              <a:t>• Cryptography: ECDSA P-256 signatures, AES-256-GCM at rest</a:t>
            </a:r>
          </a:p>
          <a:p>
            <a:r>
              <a:rPr sz="950">
                <a:solidFill>
                  <a:srgbClr val="E2E8F0"/>
                </a:solidFill>
              </a:rPr>
              <a:t>• Digital Public Infrastructure: DigiLocker, Aadhaar e-Sign, Bhashini</a:t>
            </a:r>
          </a:p>
          <a:p>
            <a:r>
              <a:rPr sz="950">
                <a:solidFill>
                  <a:srgbClr val="E2E8F0"/>
                </a:solidFill>
              </a:rPr>
              <a:t>• Cloud Sovereignty: 100% MeghRaj (NIC Cloud) Dockerized deployment</a:t>
            </a:r>
          </a:p>
          <a:p>
            <a:r>
              <a:rPr sz="950">
                <a:solidFill>
                  <a:srgbClr val="E2E8F0"/>
                </a:solidFill>
              </a:rPr>
              <a:t>• Zero Gas Costs: Private permissioned consortium ledger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10972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B923C"/>
                </a:solidFill>
              </a:rPr>
              <a:t>SIH 2026 | PS ID: SIH26262 | AICTE</a:t>
            </a:r>
          </a:p>
          <a:p>
            <a:pPr algn="r"/>
            <a:r>
              <a:rPr sz="950">
                <a:solidFill>
                  <a:srgbClr val="CBD5E1"/>
                </a:solidFill>
              </a:rPr>
              <a:t>Theme: Smart Automation | Category: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7772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Slide 4: Feasibility and Viability</a:t>
            </a:r>
          </a:p>
          <a:p>
            <a:r>
              <a:rPr sz="1100">
                <a:solidFill>
                  <a:srgbClr val="94A3B8"/>
                </a:solidFill>
              </a:rPr>
              <a:t>Operational Feasibility, TRL 4 Progression &amp; Comprehensive Risk-Mitigation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PRAVAAH-360 | Smart India Hackathon 2026 Idea Submission | Confidential &amp; Proprietary to Team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420624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/>
            <a:r>
              <a:rPr sz="1200" b="1">
                <a:solidFill>
                  <a:srgbClr val="0F2043"/>
                </a:solidFill>
              </a:rPr>
              <a:t>Technical &amp; Operational Viability:</a:t>
            </a:r>
          </a:p>
          <a:p>
            <a:pPr>
              <a:spcBef>
                <a:spcPts val="800"/>
              </a:spcBef>
            </a:pPr>
            <a:r>
              <a:rPr sz="950" b="1">
                <a:solidFill>
                  <a:srgbClr val="1E293B"/>
                </a:solidFill>
              </a:rPr>
              <a:t>• Technology Readiness Level (TRL 4): </a:t>
            </a:r>
            <a:r>
              <a:rPr sz="900">
                <a:solidFill>
                  <a:srgbClr val="64748B"/>
                </a:solidFill>
              </a:rPr>
              <a:t>System architecture validated with mock AICTE institution datasets, FastAPI backend, and Hyperledger local testnet nodes.</a:t>
            </a:r>
          </a:p>
          <a:p>
            <a:pPr>
              <a:spcBef>
                <a:spcPts val="800"/>
              </a:spcBef>
            </a:pPr>
            <a:r>
              <a:rPr sz="950" b="1">
                <a:solidFill>
                  <a:srgbClr val="1E293B"/>
                </a:solidFill>
              </a:rPr>
              <a:t>• Zero Proprietary Dependency: </a:t>
            </a:r>
            <a:r>
              <a:rPr sz="900">
                <a:solidFill>
                  <a:srgbClr val="64748B"/>
                </a:solidFill>
              </a:rPr>
              <a:t>Engineered 100% on Free &amp; Open Source Software (FOSS) - PostgreSQL, FastAPI, Celery, Next.js. Zero recurring foreign licensing fees.</a:t>
            </a:r>
          </a:p>
          <a:p>
            <a:pPr>
              <a:spcBef>
                <a:spcPts val="800"/>
              </a:spcBef>
            </a:pPr>
            <a:r>
              <a:rPr sz="950" b="1">
                <a:solidFill>
                  <a:srgbClr val="1E293B"/>
                </a:solidFill>
              </a:rPr>
              <a:t>• Edge &amp; Low-Bandwidth Resilience: </a:t>
            </a:r>
            <a:r>
              <a:rPr sz="900">
                <a:solidFill>
                  <a:srgbClr val="64748B"/>
                </a:solidFill>
              </a:rPr>
              <a:t>The EVC Inspector PWA operates offline in remote campus areas using IndexedDB local storage, auto-syncing over 2G/3G upon reconnect.</a:t>
            </a:r>
          </a:p>
          <a:p>
            <a:pPr>
              <a:spcBef>
                <a:spcPts val="800"/>
              </a:spcBef>
            </a:pPr>
            <a:r>
              <a:rPr sz="950" b="1">
                <a:solidFill>
                  <a:srgbClr val="1E293B"/>
                </a:solidFill>
              </a:rPr>
              <a:t>• MeghRaj / NIC Cloud Native: </a:t>
            </a:r>
            <a:r>
              <a:rPr sz="900">
                <a:solidFill>
                  <a:srgbClr val="64748B"/>
                </a:solidFill>
              </a:rPr>
              <a:t>Pre-configured Docker Compose and Kubernetes Helm charts for 1-click deployment on government cloud data centers.</a:t>
            </a:r>
          </a:p>
          <a:p>
            <a:pPr>
              <a:spcBef>
                <a:spcPts val="800"/>
              </a:spcBef>
            </a:pPr>
            <a:r>
              <a:rPr sz="950" b="1">
                <a:solidFill>
                  <a:srgbClr val="1E293B"/>
                </a:solidFill>
              </a:rPr>
              <a:t>• Supreme Court SLA Guarantee: </a:t>
            </a:r>
            <a:r>
              <a:rPr sz="900">
                <a:solidFill>
                  <a:srgbClr val="64748B"/>
                </a:solidFill>
              </a:rPr>
              <a:t>Automated multi-tier alert cascades (SMS/WhatsApp/Email) prevent administrative forfeiture under Parshvanath Case mandates.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937760" y="1234440"/>
          <a:ext cx="6705295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05840"/>
                <a:gridCol w="3687775"/>
              </a:tblGrid>
              <a:tr h="12801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Identified Vulnerability</a:t>
                      </a:r>
                    </a:p>
                  </a:txBody>
                  <a:tcPr anchor="ctr"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Severity</a:t>
                      </a:r>
                    </a:p>
                  </a:txBody>
                  <a:tcPr anchor="ctr"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Technical Mitigation Strategy</a:t>
                      </a:r>
                    </a:p>
                  </a:txBody>
                  <a:tcPr anchor="ctr">
                    <a:solidFill>
                      <a:srgbClr val="0F2043"/>
                    </a:solidFill>
                  </a:tcPr>
                </a:tc>
              </a:tr>
              <a:tr h="128016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E293B"/>
                          </a:solidFill>
                        </a:rPr>
                        <a:t>Inspector Collusion &amp; Pre-Visit Lobbying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B91C1C"/>
                          </a:solidFill>
                        </a:rPr>
                        <a:t>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Time-Locked Cryptography: Inspection schedules are encrypted with time-lock puzzles. Keys are revealed strictly at T-24h to eliminate bribery channels.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28016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E293B"/>
                          </a:solidFill>
                        </a:rPr>
                        <a:t>GPS Spoofing &amp; Fake Campus Inspections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C2410C"/>
                          </a:solidFill>
                        </a:rPr>
                        <a:t>HIGH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Multi-Sensor Attestation: PWA cross-validates GPS latitude against cell-tower IDs and Wi-Fi beacons, rejecting mock location flags and verifying EXIF timestamps.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128016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E293B"/>
                          </a:solidFill>
                        </a:rPr>
                        <a:t>Annual APH Regulatory Policy Changes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C2410C"/>
                          </a:solidFill>
                        </a:rP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Declarative Rules-as-Code: Formulas for land area, teacher ratios, and equipment are stored in versioned JSON-e schemas, editable without rewriting code.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10972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B923C"/>
                </a:solidFill>
              </a:rPr>
              <a:t>SIH 2026 | PS ID: SIH26262 | AICTE</a:t>
            </a:r>
          </a:p>
          <a:p>
            <a:pPr algn="r"/>
            <a:r>
              <a:rPr sz="950">
                <a:solidFill>
                  <a:srgbClr val="CBD5E1"/>
                </a:solidFill>
              </a:rPr>
              <a:t>Theme: Smart Automation | Category: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7772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Slide 5: Impact, Benefits &amp; Scalability</a:t>
            </a:r>
          </a:p>
          <a:p>
            <a:r>
              <a:rPr sz="1100">
                <a:solidFill>
                  <a:srgbClr val="94A3B8"/>
                </a:solidFill>
              </a:rPr>
              <a:t>Quantifiable Administrative ROI, Zero-Corruption Governance &amp; National Scale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PRAVAAH-360 | Smart India Hackathon 2026 Idea Submission | Confidential &amp; Proprietary to Team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26060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pPr algn="ctr"/>
            <a:r>
              <a:rPr sz="2200" b="1">
                <a:solidFill>
                  <a:srgbClr val="0F2043"/>
                </a:solidFill>
              </a:rPr>
              <a:t>84% Reduction</a:t>
            </a:r>
          </a:p>
          <a:p>
            <a:r>
              <a:rPr sz="1100" b="1">
                <a:solidFill>
                  <a:srgbClr val="1E293B"/>
                </a:solidFill>
              </a:rPr>
              <a:t>Turnaround Latency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</a:rPr>
              <a:t>Shrinks annual approval timeline from 90 days to &lt; 14 days.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74136" y="1234440"/>
            <a:ext cx="26060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pPr algn="ctr"/>
            <a:r>
              <a:rPr sz="2200" b="1">
                <a:solidFill>
                  <a:srgbClr val="0D9488"/>
                </a:solidFill>
              </a:rPr>
              <a:t>100% Elimination</a:t>
            </a:r>
          </a:p>
          <a:p>
            <a:r>
              <a:rPr sz="1100" b="1">
                <a:solidFill>
                  <a:srgbClr val="1E293B"/>
                </a:solidFill>
              </a:rPr>
              <a:t>Calculation Errors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</a:rPr>
              <a:t>Zero disputed deficiencies via automated Rules-as-Code engine.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234440"/>
            <a:ext cx="26060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pPr algn="ctr"/>
            <a:r>
              <a:rPr sz="2200" b="1">
                <a:solidFill>
                  <a:srgbClr val="EA580C"/>
                </a:solidFill>
              </a:rPr>
              <a:t>₹3.8+ Crore</a:t>
            </a:r>
          </a:p>
          <a:p>
            <a:r>
              <a:rPr sz="1100" b="1">
                <a:solidFill>
                  <a:srgbClr val="1E293B"/>
                </a:solidFill>
              </a:rPr>
              <a:t>Annual Fiscal Savings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</a:rPr>
              <a:t>Eliminates paper dossiers, manual couriers, and repetitive hearings.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25128" y="1234440"/>
            <a:ext cx="26060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/>
          <a:lstStyle/>
          <a:p>
            <a:pPr algn="ctr"/>
            <a:r>
              <a:rPr sz="2200" b="1">
                <a:solidFill>
                  <a:srgbClr val="4338CA"/>
                </a:solidFill>
              </a:rPr>
              <a:t>Zero Forfeitures</a:t>
            </a:r>
          </a:p>
          <a:p>
            <a:r>
              <a:rPr sz="1100" b="1">
                <a:solidFill>
                  <a:srgbClr val="1E293B"/>
                </a:solidFill>
              </a:rPr>
              <a:t>Supreme Court SLAs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</a:rPr>
              <a:t>100% compliance with Parshvanath Trust June 30 national cutoff.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154680"/>
            <a:ext cx="539496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/>
            <a:r>
              <a:rPr sz="1200" b="1">
                <a:solidFill>
                  <a:srgbClr val="0F2043"/>
                </a:solidFill>
              </a:rPr>
              <a:t>Multistakeholder Beneficiary Value: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1E293B"/>
                </a:solidFill>
              </a:rPr>
              <a:t>• AICTE Council &amp; Bureau Heads: </a:t>
            </a:r>
            <a:r>
              <a:rPr sz="900">
                <a:solidFill>
                  <a:srgbClr val="64748B"/>
                </a:solidFill>
              </a:rPr>
              <a:t>Real-time national heatmap of scrutiny status; automated legal defense dossiers for court litigations with cryptographic audit proof.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1E293B"/>
                </a:solidFill>
              </a:rPr>
              <a:t>• 10,500+ Technical Colleges: </a:t>
            </a:r>
            <a:r>
              <a:rPr sz="900">
                <a:solidFill>
                  <a:srgbClr val="64748B"/>
                </a:solidFill>
              </a:rPr>
              <a:t>Instant pre-submission deficiency feedback; clear remedy recommendations without corrupt middlemen or delayed EoA uncertainty.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1E293B"/>
                </a:solidFill>
              </a:rPr>
              <a:t>• Visiting Committee Experts (EVC): </a:t>
            </a:r>
            <a:r>
              <a:rPr sz="900">
                <a:solidFill>
                  <a:srgbClr val="64748B"/>
                </a:solidFill>
              </a:rPr>
              <a:t>Frictionless paperless inspection via PWA; zero administrative pressure or lobbying due to blind 24h allocation.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1E293B"/>
                </a:solidFill>
              </a:rPr>
              <a:t>• Students &amp; General Public: </a:t>
            </a:r>
            <a:r>
              <a:rPr sz="900">
                <a:solidFill>
                  <a:srgbClr val="64748B"/>
                </a:solidFill>
              </a:rPr>
              <a:t>Instant verification of approved courses and sanctioned seat intake via public tamper-proof QR codes, preventing fake admission rackets.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154680"/>
            <a:ext cx="5425135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/>
            <a:r>
              <a:rPr sz="1200" b="1">
                <a:solidFill>
                  <a:srgbClr val="0F2043"/>
                </a:solidFill>
              </a:rPr>
              <a:t>National Scale &amp; Deployment Architecture: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1E293B"/>
                </a:solidFill>
              </a:rPr>
              <a:t>• National Workload Capacity: </a:t>
            </a:r>
            <a:r>
              <a:rPr sz="900">
                <a:solidFill>
                  <a:srgbClr val="64748B"/>
                </a:solidFill>
              </a:rPr>
              <a:t>Engineered to effortlessly handle 10,500+ colleges, 200,000+ academic program streams, and 15,000+ visiting committee inspectors.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1E293B"/>
                </a:solidFill>
              </a:rPr>
              <a:t>• Peak Concurrency Handling: </a:t>
            </a:r>
            <a:r>
              <a:rPr sz="900">
                <a:solidFill>
                  <a:srgbClr val="64748B"/>
                </a:solidFill>
              </a:rPr>
              <a:t>Redis distributed caching and asynchronous Celery worker queues handle 50,000+ concurrent institutional uploads during peak deadline weeks.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1E293B"/>
                </a:solidFill>
              </a:rPr>
              <a:t>• Horizontal Auto-Scaling: </a:t>
            </a:r>
            <a:r>
              <a:rPr sz="900">
                <a:solidFill>
                  <a:srgbClr val="64748B"/>
                </a:solidFill>
              </a:rPr>
              <a:t>Stateless FastAPI microservices deployed via Kubernetes (HPA), scaling worker pods dynamically with incoming traffic surges.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1E293B"/>
                </a:solidFill>
              </a:rPr>
              <a:t>• Zero Recurring Software Cost: </a:t>
            </a:r>
            <a:r>
              <a:rPr sz="900">
                <a:solidFill>
                  <a:srgbClr val="64748B"/>
                </a:solidFill>
              </a:rPr>
              <a:t>Built on open-source stack (PostgreSQL, Linux, Docker, Python, Hyperledger Besu) requiring zero commercial database or BPM license fees.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1E293B"/>
                </a:solidFill>
              </a:rPr>
              <a:t>• MeghRaj Cloud Ready: </a:t>
            </a:r>
            <a:r>
              <a:rPr sz="900">
                <a:solidFill>
                  <a:srgbClr val="64748B"/>
                </a:solidFill>
              </a:rPr>
              <a:t>Can be hosted directly on National Informatics Centre (NIC) MeghRaj infrastructure on a modest baseline server (16GB RAM, 8 vCPUs).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0" y="10972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B923C"/>
                </a:solidFill>
              </a:rPr>
              <a:t>SIH 2026 | PS ID: SIH26262 | AICTE</a:t>
            </a:r>
          </a:p>
          <a:p>
            <a:pPr algn="r"/>
            <a:r>
              <a:rPr sz="950">
                <a:solidFill>
                  <a:srgbClr val="CBD5E1"/>
                </a:solidFill>
              </a:rPr>
              <a:t>Theme: Smart Automation | Category: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7772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Slide 6: Research, Prior Art &amp; References</a:t>
            </a:r>
          </a:p>
          <a:p>
            <a:r>
              <a:rPr sz="1100">
                <a:solidFill>
                  <a:srgbClr val="94A3B8"/>
                </a:solidFill>
              </a:rPr>
              <a:t>Academic Grounding, Legal Precedents, Competitive Benchmarks &amp; Live Prototype Links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PRAVAAH-360 | Smart India Hackathon 2026 Idea Submission | Confidential &amp; Proprietary to Team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512064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/>
            <a:r>
              <a:rPr sz="1200" b="1">
                <a:solidFill>
                  <a:srgbClr val="0F2043"/>
                </a:solidFill>
              </a:rPr>
              <a:t>Legal Precedents &amp; Research Citations:</a:t>
            </a:r>
          </a:p>
          <a:p>
            <a:pPr>
              <a:spcBef>
                <a:spcPts val="800"/>
              </a:spcBef>
            </a:pPr>
            <a:r>
              <a:rPr sz="950" b="1">
                <a:solidFill>
                  <a:srgbClr val="1E293B"/>
                </a:solidFill>
              </a:rPr>
              <a:t>1. Supreme Court Landmark Judgment (2013):
</a:t>
            </a:r>
            <a:r>
              <a:rPr sz="900">
                <a:solidFill>
                  <a:srgbClr val="64748B"/>
                </a:solidFill>
              </a:rPr>
              <a:t>Parshvanath Charitable Trust vs. AICTE (2013) 3 SCC 385. Mandated strict national timeline compliance (April 30 / June 10 / June 30) for technical approvals.</a:t>
            </a:r>
          </a:p>
          <a:p>
            <a:pPr>
              <a:spcBef>
                <a:spcPts val="800"/>
              </a:spcBef>
            </a:pPr>
            <a:r>
              <a:rPr sz="950" b="1">
                <a:solidFill>
                  <a:srgbClr val="1E293B"/>
                </a:solidFill>
              </a:rPr>
              <a:t>2. AICTE Approval Process Handbook (APH 2024-27):
</a:t>
            </a:r>
            <a:r>
              <a:rPr sz="900">
                <a:solidFill>
                  <a:srgbClr val="64748B"/>
                </a:solidFill>
              </a:rPr>
              <a:t>Statutory regulations defining infrastructural carpet area, Student-to-Faculty cadre ratios, laboratory equipment, and regulatory fee schedules.</a:t>
            </a:r>
          </a:p>
          <a:p>
            <a:pPr>
              <a:spcBef>
                <a:spcPts val="800"/>
              </a:spcBef>
            </a:pPr>
            <a:r>
              <a:rPr sz="950" b="1">
                <a:solidFill>
                  <a:srgbClr val="1E293B"/>
                </a:solidFill>
              </a:rPr>
              <a:t>3. OECD Rules-as-Code (RaC) Governance Framework:
</a:t>
            </a:r>
            <a:r>
              <a:rPr sz="900">
                <a:solidFill>
                  <a:srgbClr val="64748B"/>
                </a:solidFill>
              </a:rPr>
              <a:t>OECD Observatory of Public Sector Innovation guidelines on transmuting government administrative legislation into machine-executable declarative code.</a:t>
            </a:r>
          </a:p>
          <a:p>
            <a:pPr>
              <a:spcBef>
                <a:spcPts val="800"/>
              </a:spcBef>
            </a:pPr>
            <a:r>
              <a:rPr sz="950" b="1">
                <a:solidFill>
                  <a:srgbClr val="1E293B"/>
                </a:solidFill>
              </a:rPr>
              <a:t>4. IEEE 2144.1 Standard for Blockchain Verifiable Data:
</a:t>
            </a:r>
            <a:r>
              <a:rPr sz="900">
                <a:solidFill>
                  <a:srgbClr val="64748B"/>
                </a:solidFill>
              </a:rPr>
              <a:t>Open decentralized framework for cryptographic identity verification and verifiable credentials in public sector administrations.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852160" y="1234440"/>
          <a:ext cx="579089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295"/>
                <a:gridCol w="1645920"/>
                <a:gridCol w="2011680"/>
              </a:tblGrid>
              <a:tr h="58521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Key Governance Capability</a:t>
                      </a:r>
                    </a:p>
                  </a:txBody>
                  <a:tcPr anchor="ctr"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Generic Enterprise BPM</a:t>
                      </a:r>
                    </a:p>
                  </a:txBody>
                  <a:tcPr anchor="ctr"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PRAVAAH-360 Platform</a:t>
                      </a:r>
                    </a:p>
                  </a:txBody>
                  <a:tcPr anchor="ctr">
                    <a:solidFill>
                      <a:srgbClr val="0F2043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E293B"/>
                          </a:solidFill>
                        </a:rPr>
                        <a:t>Dynamic APH Rules Engine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B91C1C"/>
                          </a:solidFill>
                        </a:rPr>
                        <a:t>Hardcoded Scripts / Custom Dev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D9488"/>
                          </a:solidFill>
                        </a:rPr>
                        <a:t>Declarative JSON-e Rules-as-Code (&lt; 2.5s)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E293B"/>
                          </a:solidFill>
                        </a:rPr>
                        <a:t>Anti-Collusion Inspector Matching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B91C1C"/>
                          </a:solidFill>
                        </a:rPr>
                        <a:t>Basic Round-Robin / Manual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D9488"/>
                          </a:solidFill>
                        </a:rPr>
                        <a:t>Time-Locked Cryptographic Blind Matching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E293B"/>
                          </a:solidFill>
                        </a:rPr>
                        <a:t>EVC Inspection Verification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B91C1C"/>
                          </a:solidFill>
                        </a:rPr>
                        <a:t>Unverified Mobile Photo Uploads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D9488"/>
                          </a:solidFill>
                        </a:rPr>
                        <a:t>Anti-Mock GPS + Hardware Attested PWA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E293B"/>
                          </a:solidFill>
                        </a:rPr>
                        <a:t>Court-Proof Audit Trail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B91C1C"/>
                          </a:solidFill>
                        </a:rPr>
                        <a:t>Centralized DB Audit Trail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D9488"/>
                          </a:solidFill>
                        </a:rPr>
                        <a:t>Immutable Hyperledger Multi-Sig Ledger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852160" y="4343400"/>
            <a:ext cx="5790895" cy="201168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/>
            <a:r>
              <a:rPr sz="1150" b="1">
                <a:solidFill>
                  <a:srgbClr val="FB923C"/>
                </a:solidFill>
              </a:rPr>
              <a:t>Team Deliverables &amp; Proof of Concept Links:</a:t>
            </a:r>
          </a:p>
          <a:p>
            <a:r>
              <a:rPr sz="950" b="1">
                <a:solidFill>
                  <a:srgbClr val="FFFFFF"/>
                </a:solidFill>
              </a:rPr>
              <a:t>Live Interactive Web Demo: </a:t>
            </a:r>
            <a:r>
              <a:rPr sz="900">
                <a:solidFill>
                  <a:srgbClr val="93C5FD"/>
                </a:solidFill>
              </a:rPr>
              <a:t>https://pravaah360-demo.nic.in (Simulated APH Portal)</a:t>
            </a:r>
          </a:p>
          <a:p>
            <a:r>
              <a:rPr sz="950" b="1">
                <a:solidFill>
                  <a:srgbClr val="FFFFFF"/>
                </a:solidFill>
              </a:rPr>
              <a:t>GitHub Source Code Repository: </a:t>
            </a:r>
            <a:r>
              <a:rPr sz="900">
                <a:solidFill>
                  <a:srgbClr val="93C5FD"/>
                </a:solidFill>
              </a:rPr>
              <a:t>https://github.com/team-pravaah360/sih2026-aicte</a:t>
            </a:r>
          </a:p>
          <a:p>
            <a:r>
              <a:rPr sz="950" b="1">
                <a:solidFill>
                  <a:srgbClr val="FFFFFF"/>
                </a:solidFill>
              </a:rPr>
              <a:t>Swagger REST API Documentation: </a:t>
            </a:r>
            <a:r>
              <a:rPr sz="900">
                <a:solidFill>
                  <a:srgbClr val="93C5FD"/>
                </a:solidFill>
              </a:rPr>
              <a:t>https://api.pravaah360.internal/v1/docs</a:t>
            </a:r>
          </a:p>
          <a:p>
            <a:r>
              <a:rPr sz="950" b="1">
                <a:solidFill>
                  <a:srgbClr val="FFFFFF"/>
                </a:solidFill>
              </a:rPr>
              <a:t>Interactive UI/UX Wireframe: </a:t>
            </a:r>
            <a:r>
              <a:rPr sz="900">
                <a:solidFill>
                  <a:srgbClr val="93C5FD"/>
                </a:solidFill>
              </a:rPr>
              <a:t>https://figma.com/@team-pravaah360/workflow-prototype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