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F2043"/>
                </a:solidFill>
              </a:rPr>
              <a:t>SMART INDIA HACKATHON 2026</a:t>
            </a:r>
          </a:p>
          <a:p>
            <a:pPr algn="ctr"/>
            <a:r>
              <a:rPr sz="2200" b="1">
                <a:solidFill>
                  <a:srgbClr val="1E293B"/>
                </a:solidFill>
              </a:rP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F2043"/>
                </a:solidFill>
              </a:rPr>
              <a:t>Problem Statement ID : </a:t>
            </a:r>
            <a:r>
              <a:rPr sz="1300" b="1">
                <a:solidFill>
                  <a:srgbClr val="EA580C"/>
                </a:solidFill>
              </a:rPr>
              <a:t>SIH26262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F2043"/>
                </a:solidFill>
              </a:rPr>
              <a:t>Problem Statement Title : </a:t>
            </a:r>
            <a:r>
              <a:rPr sz="1300">
                <a:solidFill>
                  <a:srgbClr val="1E293B"/>
                </a:solidFill>
              </a:rPr>
              <a:t>Integrated AICTE Approval Workflow Automation, Compliance Monitoring and Alert Management System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F2043"/>
                </a:solidFill>
              </a:rPr>
              <a:t>Problem Statement Category : </a:t>
            </a:r>
            <a:r>
              <a:rPr sz="13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F2043"/>
                </a:solidFill>
              </a:rPr>
              <a:t>Organization Name : </a:t>
            </a:r>
            <a:r>
              <a:rPr sz="1300">
                <a:solidFill>
                  <a:srgbClr val="1E293B"/>
                </a:solidFill>
              </a:rPr>
              <a:t>All India Council for Technical Education (AICTE)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F2043"/>
                </a:solidFill>
              </a:rPr>
              <a:t>Theme : </a:t>
            </a:r>
            <a:r>
              <a:rPr sz="1300">
                <a:solidFill>
                  <a:srgbClr val="1E293B"/>
                </a:solidFill>
              </a:rPr>
              <a:t>Smart Automation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F2043"/>
                </a:solidFill>
              </a:rPr>
              <a:t>Team ID : </a:t>
            </a:r>
            <a:r>
              <a:rPr sz="1300">
                <a:solidFill>
                  <a:srgbClr val="1E293B"/>
                </a:solidFill>
              </a:rPr>
              <a:t>[Insert Team ID]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F2043"/>
                </a:solidFill>
              </a:rPr>
              <a:t>Team Name : </a:t>
            </a:r>
            <a:r>
              <a:rPr sz="1300">
                <a:solidFill>
                  <a:srgbClr val="1E293B"/>
                </a:solidFill>
              </a:rPr>
              <a:t>[Insert Team Name]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F2043"/>
                </a:solidFill>
              </a:rPr>
              <a:t>Project Codename : </a:t>
            </a:r>
            <a:r>
              <a:rPr sz="1300" b="1">
                <a:solidFill>
                  <a:srgbClr val="EA580C"/>
                </a:solidFill>
              </a:rPr>
              <a:t>PRAVAAH-360 (Proactive Regulatory Automation &amp; SLA Ledger)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2103120"/>
            <a:ext cx="26517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A580C"/>
                </a:solidFill>
              </a:rPr>
              <a:t>SIH 2026
</a:t>
            </a:r>
          </a:p>
          <a:p>
            <a:pPr algn="ctr"/>
            <a:r>
              <a:rPr sz="1100" b="1">
                <a:solidFill>
                  <a:srgbClr val="0F2043"/>
                </a:solidFill>
              </a:rPr>
              <a:t>SMART AUTOMATION
AICTE EDITION
</a:t>
            </a:r>
          </a:p>
          <a:p>
            <a:pPr algn="ctr"/>
            <a:r>
              <a:rPr sz="1050">
                <a:solidFill>
                  <a:srgbClr val="64748B"/>
                </a:solidFill>
              </a:rPr>
              <a:t>• 10,500+ Institutes
• Rules-as-Code Engine
• Time-Locked Matching
• Hyperledger Multi-Sig
• Supreme Court SLAs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E293B"/>
                </a:solidFill>
              </a:rPr>
              <a:t>IDEA TITLE: PRAVAAH-360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45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EA580C"/>
                </a:solidFill>
              </a:rPr>
              <a:t>SIH 2026 | PS: SIH26262 | AICTE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7295" cy="59436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2043"/>
                </a:solidFill>
              </a:rPr>
              <a:t>AIM : </a:t>
            </a:r>
            <a:r>
              <a:rPr sz="1050">
                <a:solidFill>
                  <a:srgbClr val="1E293B"/>
                </a:solidFill>
              </a:rPr>
              <a:t>An Autonomous Regulatory Engine integrating Declarative Rules-as-Code, Time-Locked Blind Inspector Dispatch, Anti-Spoofing Geo-Telemetry, and an Immutable Multi-Sig SLA Ledger for AICTE Approvals.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01752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B91C1C"/>
                </a:solidFill>
              </a:rPr>
              <a:t>PROBLEM FACED</a:t>
            </a:r>
          </a:p>
          <a:p>
            <a:r>
              <a:rPr sz="900">
                <a:solidFill>
                  <a:srgbClr val="1E293B"/>
                </a:solidFill>
              </a:rPr>
              <a:t>• Manual 90-day approval scrutiny cycle across 10,500+ colleges</a:t>
            </a:r>
          </a:p>
          <a:p>
            <a:r>
              <a:rPr sz="900">
                <a:solidFill>
                  <a:srgbClr val="1E293B"/>
                </a:solidFill>
              </a:rPr>
              <a:t>• Disputed deficiency calculations in land &amp; faculty cadre ratios</a:t>
            </a:r>
          </a:p>
          <a:p>
            <a:r>
              <a:rPr sz="900">
                <a:solidFill>
                  <a:srgbClr val="1E293B"/>
                </a:solidFill>
              </a:rPr>
              <a:t>• Inspector lobbying &amp; lack of physical campus verification</a:t>
            </a:r>
          </a:p>
          <a:p>
            <a:r>
              <a:rPr sz="900">
                <a:solidFill>
                  <a:srgbClr val="1E293B"/>
                </a:solidFill>
              </a:rPr>
              <a:t>• Risk of Supreme Court SLA cutoff (June 30) legal contempt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017520" cy="21031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166534"/>
                </a:solidFill>
              </a:rPr>
              <a:t>SOLUTION</a:t>
            </a:r>
          </a:p>
          <a:p>
            <a:r>
              <a:rPr sz="900">
                <a:solidFill>
                  <a:srgbClr val="1E293B"/>
                </a:solidFill>
              </a:rPr>
              <a:t>• Declarative Rules-as-Code instant deficiency evaluator (&lt; 2.5s)</a:t>
            </a:r>
          </a:p>
          <a:p>
            <a:r>
              <a:rPr sz="900">
                <a:solidFill>
                  <a:srgbClr val="1E293B"/>
                </a:solidFill>
              </a:rPr>
              <a:t>• Time-locked blind matching reveals inspectors strictly at T-24h</a:t>
            </a:r>
          </a:p>
          <a:p>
            <a:r>
              <a:rPr sz="900">
                <a:solidFill>
                  <a:srgbClr val="1E293B"/>
                </a:solidFill>
              </a:rPr>
              <a:t>• Anti-spoofing PWA with cell-tower &amp; hardware-attested GPS</a:t>
            </a:r>
          </a:p>
          <a:p>
            <a:r>
              <a:rPr sz="900">
                <a:solidFill>
                  <a:srgbClr val="1E293B"/>
                </a:solidFill>
              </a:rPr>
              <a:t>• Hyperledger Besu multi-sig ledger &amp; automated alert cascades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11880" y="1828800"/>
          <a:ext cx="4297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554480"/>
              </a:tblGrid>
              <a:tr h="841248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Legacy Portal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PRAVAAH-360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Deficiency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Manual (30-45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D9488"/>
                          </a:solidFill>
                        </a:rPr>
                        <a:t>Rules-as-Code (&lt; 2.5s)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Inspector Matching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Manual / Lobbying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D9488"/>
                          </a:solidFill>
                        </a:rPr>
                        <a:t>Blind 24h Time-Lock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Campus 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Paper / Unverified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D9488"/>
                          </a:solidFill>
                        </a:rPr>
                        <a:t>Anti-Mock GPS PWA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SLA Governance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Static Calendar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D9488"/>
                          </a:solidFill>
                        </a:rPr>
                        <a:t>Hyperledger Multi-Sig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828800"/>
            <a:ext cx="3687775" cy="621792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</a:rPr>
              <a:t>1. College Data Ingestion (Aadhaar e-Sign)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42032"/>
            <a:ext cx="3687775" cy="621792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</a:rPr>
              <a:t>2. AST Rules-as-Code Deficiency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55264"/>
            <a:ext cx="3687775" cy="621792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</a:rPr>
              <a:t>3. Live Red-Flag Scorecard &amp; Remediation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68496"/>
            <a:ext cx="3687775" cy="621792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</a:rPr>
              <a:t>4. Time-Locked Blind EVC Inspector Dispatch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681728"/>
            <a:ext cx="3687775" cy="621792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</a:rPr>
              <a:t>5. Geo-Attested Field Inspection PWA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394960"/>
            <a:ext cx="3687775" cy="621792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</a:rPr>
              <a:t>6. Multi-Sig Approval &amp; Verifiable Credential 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F2043"/>
                </a:solidFill>
              </a:rPr>
              <a:t>TECH STACK: Next.js 14 | FastAPI | PyDrools Rules Engine | PostgreSQL 16 | Redis | Hyperledger Besu | Celery |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E293B"/>
                </a:solidFill>
              </a:rPr>
              <a:t>FLOWCHARTS &amp; 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45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EA580C"/>
                </a:solidFill>
              </a:rPr>
              <a:t>SIH 2026 | PS: SIH26262 | AICTE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40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2043"/>
                </a:solidFill>
              </a:rPr>
              <a:t>AI-POWERED RULES-AS-CODE SCRUTINY FLOW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Start -&gt; College submits Infrastructure &amp; Faculty Dataset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System Ingestion -&gt; Python AST &amp; JSON-e APH Rule Interpreter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Compute Cadre Ratios (1:2:6), Built-up FSI &amp; Land Norms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Decision: Deficiency Detected in APH Norms?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B91C1C"/>
                </a:solidFill>
              </a:rPr>
              <a:t>• YES -&gt; Generate Red-Flagged Scorecard &amp; Auto-Suggest Fixes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66534"/>
                </a:solidFill>
              </a:rPr>
              <a:t>• NO  -&gt; Generate Compliance Snapshot &amp; Cryptographic Hash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66534"/>
                </a:solidFill>
              </a:rPr>
              <a:t>Multi-Sig Committee Signoff -&gt; Extension of Approval Granted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440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2043"/>
                </a:solidFill>
              </a:rPr>
              <a:t>BLIND INSPECTION &amp; CRYPTOGRAPHIC AUDIT DFD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Inspector Pool (15k Experts) -&gt; Anti-Conflict Filter (No Alumni/Ex-Emp)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Hungarian Matching Algorithm -&gt; Pair Inspector to College Venue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EA580C"/>
                </a:solidFill>
              </a:rPr>
              <a:t>Encrypt Match using Time-Locked Cryptographic Puzzle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EA580C"/>
                </a:solidFill>
              </a:rPr>
              <a:t>Countdown Reaches T-24 Hours -&gt; Keys Decrypted &amp; SMS Dispatched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Inspector Arrives -&gt; PWA Verifies Cell-Tower + Hardware GPS Beacons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Inspector Uploads Lab Photos -&gt; Embedded with SHA-256 EXIF Signatures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0D9488"/>
                </a:solidFill>
              </a:rPr>
              <a:t>Hyperledger Besu -&gt; Commits Immutable Supreme Court SLA Audit 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40680"/>
            <a:ext cx="265176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Presentation Layer</a:t>
            </a:r>
          </a:p>
          <a:p>
            <a:r>
              <a:rPr sz="850">
                <a:solidFill>
                  <a:srgbClr val="64748B"/>
                </a:solidFill>
              </a:rPr>
              <a:t>Next.js 14, React 18, Tailwind, Offline PWA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5440680"/>
            <a:ext cx="265176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Gateway &amp; Security</a:t>
            </a:r>
          </a:p>
          <a:p>
            <a:r>
              <a:rPr sz="850">
                <a:solidFill>
                  <a:srgbClr val="64748B"/>
                </a:solidFill>
              </a:rPr>
              <a:t>Nginx Reverse Proxy, OAuth 2.0, DPDP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5440680"/>
            <a:ext cx="265176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Engine &amp; Services</a:t>
            </a:r>
          </a:p>
          <a:p>
            <a:r>
              <a:rPr sz="850">
                <a:solidFill>
                  <a:srgbClr val="64748B"/>
                </a:solidFill>
              </a:rPr>
              <a:t>FastAPI, PyDrools Rules, Celery Alert Dispatcher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0848" y="5440680"/>
            <a:ext cx="265176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Persistence &amp; Ledger</a:t>
            </a:r>
          </a:p>
          <a:p>
            <a:r>
              <a:rPr sz="850">
                <a:solidFill>
                  <a:srgbClr val="64748B"/>
                </a:solidFill>
              </a:rPr>
              <a:t>PostgreSQL 16, Redis 7, Hyperledger Besu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E293B"/>
                </a:solidFill>
              </a:rP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45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EA580C"/>
                </a:solidFill>
              </a:rPr>
              <a:t>SIH 2026 | PS: SIH26262 | AICTE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280160"/>
            <a:ext cx="3291840" cy="658368"/>
          </a:xfrm>
          <a:prstGeom prst="ellipse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1. College Profile &amp; Aadhaar e-Sign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167128"/>
            <a:ext cx="3291840" cy="658368"/>
          </a:xfrm>
          <a:prstGeom prst="ellipse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2. Rules-as-Code APH Scrutiny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54096"/>
            <a:ext cx="3291840" cy="658368"/>
          </a:xfrm>
          <a:prstGeom prst="ellipse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3. Blind Cryptographic Dispatch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941064"/>
            <a:ext cx="3291840" cy="658368"/>
          </a:xfrm>
          <a:prstGeom prst="ellipse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4. Geo-Attested Field Inspection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28032"/>
            <a:ext cx="3291840" cy="658368"/>
          </a:xfrm>
          <a:prstGeom prst="ellipse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5. Multi-Sig Approval &amp; QR Issuance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23360" y="1280160"/>
          <a:ext cx="771113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3596335"/>
              </a:tblGrid>
              <a:tr h="80772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RISK / IMPACTS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MITIGATION STRATEGY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Inspector Collusion &amp; Lobbying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Bribery, compromised educational standards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Time-Locked Cryptography: Venues revealed strictly at T-24h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GPS Spoofing on Inspection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Fake photo uploads from off-campus sites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Multi-Sensor Attestation: Validates cell towers &amp; blocks mock GPS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Annual APH Policy Shifts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System breaks when AICTE alters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Declarative Rules-as-Code: Versioned JSON schemas editable without code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April Peak Concurrency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Portal downtime before deadline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Decoupled Asynchronous Microservices: Celery + Redis auto-scaling pods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Supreme Court SLA Cutoffs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Legal contempt &amp; institutional lawsuits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Automated SLA Countdown: Multi-channel SMS/WhatsApp escalation 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E293B"/>
                </a:solidFill>
              </a:rP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45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EA580C"/>
                </a:solidFill>
              </a:rPr>
              <a:t>SIH 2026 | PS: SIH26262 | AICTE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Sub-3-Second APH Audit</a:t>
            </a:r>
          </a:p>
          <a:p>
            <a:r>
              <a:rPr sz="850">
                <a:solidFill>
                  <a:srgbClr val="64748B"/>
                </a:solidFill>
              </a:rPr>
              <a:t>Instant mathematical evaluation across all handbook clauses.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67128"/>
            <a:ext cx="347472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Blind Inspector Allocation</a:t>
            </a:r>
          </a:p>
          <a:p>
            <a:r>
              <a:rPr sz="850">
                <a:solidFill>
                  <a:srgbClr val="64748B"/>
                </a:solidFill>
              </a:rPr>
              <a:t>Zero-knowledge matchmaking eliminating regional lobbying.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45536"/>
            <a:ext cx="347472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Anti-Spoofing EVC PWA</a:t>
            </a:r>
          </a:p>
          <a:p>
            <a:r>
              <a:rPr sz="850">
                <a:solidFill>
                  <a:srgbClr val="64748B"/>
                </a:solidFill>
              </a:rPr>
              <a:t>Offline-first inspection companion with cell-tower attestation.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23944"/>
            <a:ext cx="347472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Supreme Court SLA Ledger</a:t>
            </a:r>
          </a:p>
          <a:p>
            <a:r>
              <a:rPr sz="850">
                <a:solidFill>
                  <a:srgbClr val="64748B"/>
                </a:solidFill>
              </a:rPr>
              <a:t>Immutable Hyperledger audit trail for High Court legal defense.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02352"/>
            <a:ext cx="347472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Verifiable Credential EoA</a:t>
            </a:r>
          </a:p>
          <a:p>
            <a:r>
              <a:rPr sz="850">
                <a:solidFill>
                  <a:srgbClr val="64748B"/>
                </a:solidFill>
              </a:rPr>
              <a:t>Offline-verifiable QR code preventing fake approval letters.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88720"/>
            <a:ext cx="7589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EA580C"/>
                </a:solidFill>
              </a:rPr>
              <a:t>IMPACTS (QUANTIFIABLE OUTCOMES)</a:t>
            </a:r>
          </a:p>
          <a:p>
            <a:r>
              <a:rPr sz="950">
                <a:solidFill>
                  <a:srgbClr val="1E293B"/>
                </a:solidFill>
              </a:rPr>
              <a:t>• 84% Reduction in Turnaround: Compresses 90-day scrutiny cycle to &lt; 14 days.</a:t>
            </a:r>
          </a:p>
          <a:p>
            <a:r>
              <a:rPr sz="950">
                <a:solidFill>
                  <a:srgbClr val="1E293B"/>
                </a:solidFill>
              </a:rPr>
              <a:t>• 100% Elimination of Human Calculation Errors: Zero disputed deficiency notices.</a:t>
            </a:r>
          </a:p>
          <a:p>
            <a:r>
              <a:rPr sz="950">
                <a:solidFill>
                  <a:srgbClr val="1E293B"/>
                </a:solidFill>
              </a:rPr>
              <a:t>• ₹3.8+ Crore Annual Fiscal Savings: Eradicates physical paperwork and courier transit.</a:t>
            </a:r>
          </a:p>
          <a:p>
            <a:r>
              <a:rPr sz="950">
                <a:solidFill>
                  <a:srgbClr val="1E293B"/>
                </a:solidFill>
              </a:rPr>
              <a:t>• Zero Legal Forfeitures: 100% compliance with Supreme Court Parshvanath Case June 30 deadline.</a:t>
            </a:r>
          </a:p>
          <a:p>
            <a:r>
              <a:rPr sz="950">
                <a:solidFill>
                  <a:srgbClr val="1E293B"/>
                </a:solidFill>
              </a:rPr>
              <a:t>• Zero Corruption Vector: Time-locked dispatch mathematically dismantles lobbying.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703320"/>
            <a:ext cx="7589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D9488"/>
                </a:solidFill>
              </a:rPr>
              <a:t>BENEFITS (STAKEHOLDER VALUE)</a:t>
            </a:r>
          </a:p>
          <a:p>
            <a:r>
              <a:rPr sz="950">
                <a:solidFill>
                  <a:srgbClr val="1E293B"/>
                </a:solidFill>
              </a:rPr>
              <a:t>• AICTE Leadership: Real-time national approval heatmaps &amp; cryptographic court defense proof.</a:t>
            </a:r>
          </a:p>
          <a:p>
            <a:r>
              <a:rPr sz="950">
                <a:solidFill>
                  <a:srgbClr val="1E293B"/>
                </a:solidFill>
              </a:rPr>
              <a:t>• 10,500+ Technical Colleges: Instant pre-submission feedback without middleman extortion.</a:t>
            </a:r>
          </a:p>
          <a:p>
            <a:r>
              <a:rPr sz="950">
                <a:solidFill>
                  <a:srgbClr val="1E293B"/>
                </a:solidFill>
              </a:rPr>
              <a:t>• EVC Visiting Inspectors: Frictionless paperless inspection with zero administrative pressure.</a:t>
            </a:r>
          </a:p>
          <a:p>
            <a:r>
              <a:rPr sz="950">
                <a:solidFill>
                  <a:srgbClr val="1E293B"/>
                </a:solidFill>
              </a:rPr>
              <a:t>• Students &amp; Parents: Public QR verification of genuine course approval and sanctioned intake.</a:t>
            </a:r>
          </a:p>
          <a:p>
            <a:r>
              <a:rPr sz="950">
                <a:solidFill>
                  <a:srgbClr val="1E293B"/>
                </a:solidFill>
              </a:rPr>
              <a:t>• Ministry of Education: National standard for Digital Public Infrastructure (DPI) in education.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E293B"/>
                </a:solidFill>
              </a:rP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45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EA580C"/>
                </a:solidFill>
              </a:rPr>
              <a:t>SIH 2026 | PS: SIH26262 | AICTE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72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2043"/>
                </a:solidFill>
              </a:rPr>
              <a:t>ACADEMIC &amp; LEGAL CITATIONS</a:t>
            </a:r>
          </a:p>
          <a:p>
            <a:r>
              <a:rPr sz="900">
                <a:solidFill>
                  <a:srgbClr val="1E293B"/>
                </a:solidFill>
              </a:rPr>
              <a:t>• Supreme Court Landmark Judgment: Parshvanath Charitable Trust vs. AICTE (2013) 3 SCC 385 (Mandatory Annual Approval Deadlines).</a:t>
            </a:r>
          </a:p>
          <a:p>
            <a:r>
              <a:rPr sz="900">
                <a:solidFill>
                  <a:srgbClr val="1E293B"/>
                </a:solidFill>
              </a:rPr>
              <a:t>• AICTE Statutory Handbook: Approval Process Handbook (APH 2024-27) Regulatory Matrices.</a:t>
            </a:r>
          </a:p>
          <a:p>
            <a:r>
              <a:rPr sz="900">
                <a:solidFill>
                  <a:srgbClr val="1E293B"/>
                </a:solidFill>
              </a:rPr>
              <a:t>• OECD Rules-as-Code (RaC) Governance Framework: Machine-executable declarative legislative specifications.</a:t>
            </a:r>
          </a:p>
          <a:p>
            <a:r>
              <a:rPr sz="900">
                <a:solidFill>
                  <a:srgbClr val="1E293B"/>
                </a:solidFill>
              </a:rPr>
              <a:t>• IEEE 2144.1 Standard for Blockchain-based Identity and Verifiable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80360"/>
            <a:ext cx="36118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Prototype Screen 1: Institutional Deficiency Calculator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4748B"/>
                </a:solidFill>
              </a:rPr>
              <a:t>Interactive dashboard displaying live APH compliance meters (Land, Cadre 1:2:6, Labs) with instant red-flag guidance prior to formal submission.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2880360"/>
            <a:ext cx="36118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Prototype Screen 2: AICTE Bureau Command Console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4748B"/>
                </a:solidFill>
              </a:rPr>
              <a:t>National scrutiny Kanban pipeline tracking 10,500+ institutions with Supreme Court countdown timer and automated SLA alert escalation matrix.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2880360"/>
            <a:ext cx="36118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F2043"/>
                </a:solidFill>
              </a:rPr>
              <a:t>Prototype Screen 3: EVC Mobile Inspection PWA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4748B"/>
                </a:solidFill>
              </a:rPr>
              <a:t>Geo-fenced mobile inspector screen with real-time cell-tower attestation, anti-mock GPS detection, and SHA-256 photo hash stamp.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57800"/>
            <a:ext cx="11277295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EA580C"/>
                </a:solidFill>
              </a:rPr>
              <a:t>PROTOTYPE &amp; REPOSITORY LINKS :</a:t>
            </a:r>
          </a:p>
          <a:p>
            <a:r>
              <a:rPr b="1" sz="950">
                <a:solidFill>
                  <a:srgbClr val="FFFFFF"/>
                </a:solidFill>
              </a:rPr>
              <a:t>Live Web App Link : </a:t>
            </a:r>
            <a:r>
              <a:rPr sz="950">
                <a:solidFill>
                  <a:srgbClr val="93C5FD"/>
                </a:solidFill>
              </a:rPr>
              <a:t>https://pravaah-aicte.vercel.app</a:t>
            </a:r>
          </a:p>
          <a:p>
            <a:r>
              <a:rPr b="1" sz="950">
                <a:solidFill>
                  <a:srgbClr val="FFFFFF"/>
                </a:solidFill>
              </a:rPr>
              <a:t>GitHub Repository : </a:t>
            </a:r>
            <a:r>
              <a:rPr sz="950">
                <a:solidFill>
                  <a:srgbClr val="93C5FD"/>
                </a:solidFill>
              </a:rPr>
              <a:t>https://github.com/team-pravaah360/aicte-approval-workflow.git</a:t>
            </a:r>
          </a:p>
          <a:p>
            <a:r>
              <a:rPr b="1" sz="950">
                <a:solidFill>
                  <a:srgbClr val="FFFFFF"/>
                </a:solidFill>
              </a:rPr>
              <a:t>Google Drive Link : </a:t>
            </a:r>
            <a:r>
              <a:rPr sz="950">
                <a:solidFill>
                  <a:srgbClr val="93C5FD"/>
                </a:solidFill>
              </a:rPr>
              <a:t>https://drive.google.com/drive/folders/1Pravaah360DemoSIH2026?usp=sharing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